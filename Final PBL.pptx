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70" r:id="rId11"/>
    <p:sldId id="271" r:id="rId12"/>
    <p:sldId id="272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5FFCAD-16AF-491C-87C3-32CE786E4BBF}" v="48" dt="2025-11-06T05:31:57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prasad avr avr" userId="1250b6a2a52c88fc" providerId="LiveId" clId="{1946D514-D95B-4E13-9C17-834F379012FE}"/>
    <pc:docChg chg="undo redo custSel addSld modSld sldOrd delSection modSection">
      <pc:chgData name="satya prasad avr avr" userId="1250b6a2a52c88fc" providerId="LiveId" clId="{1946D514-D95B-4E13-9C17-834F379012FE}" dt="2025-11-19T15:02:29.935" v="1020" actId="20577"/>
      <pc:docMkLst>
        <pc:docMk/>
      </pc:docMkLst>
      <pc:sldChg chg="addSp modSp mod">
        <pc:chgData name="satya prasad avr avr" userId="1250b6a2a52c88fc" providerId="LiveId" clId="{1946D514-D95B-4E13-9C17-834F379012FE}" dt="2025-11-19T15:02:29.935" v="1020" actId="20577"/>
        <pc:sldMkLst>
          <pc:docMk/>
          <pc:sldMk cId="3976705041" sldId="257"/>
        </pc:sldMkLst>
        <pc:spChg chg="mod">
          <ac:chgData name="satya prasad avr avr" userId="1250b6a2a52c88fc" providerId="LiveId" clId="{1946D514-D95B-4E13-9C17-834F379012FE}" dt="2025-11-19T15:02:29.935" v="1020" actId="20577"/>
          <ac:spMkLst>
            <pc:docMk/>
            <pc:sldMk cId="3976705041" sldId="257"/>
            <ac:spMk id="2" creationId="{306FEAD7-9A99-E2EB-3B64-61A05233D487}"/>
          </ac:spMkLst>
        </pc:spChg>
        <pc:spChg chg="mod">
          <ac:chgData name="satya prasad avr avr" userId="1250b6a2a52c88fc" providerId="LiveId" clId="{1946D514-D95B-4E13-9C17-834F379012FE}" dt="2025-11-03T04:00:27.986" v="15" actId="27636"/>
          <ac:spMkLst>
            <pc:docMk/>
            <pc:sldMk cId="3976705041" sldId="257"/>
            <ac:spMk id="4" creationId="{6CDCDEB5-03EF-3D27-CC5E-998C564D8D10}"/>
          </ac:spMkLst>
        </pc:spChg>
        <pc:picChg chg="add mod">
          <ac:chgData name="satya prasad avr avr" userId="1250b6a2a52c88fc" providerId="LiveId" clId="{1946D514-D95B-4E13-9C17-834F379012FE}" dt="2025-11-06T05:37:32.934" v="914" actId="14100"/>
          <ac:picMkLst>
            <pc:docMk/>
            <pc:sldMk cId="3976705041" sldId="257"/>
            <ac:picMk id="5" creationId="{F1749E8E-74D0-70E8-6633-D1CC02460D34}"/>
          </ac:picMkLst>
        </pc:picChg>
        <pc:picChg chg="mod">
          <ac:chgData name="satya prasad avr avr" userId="1250b6a2a52c88fc" providerId="LiveId" clId="{1946D514-D95B-4E13-9C17-834F379012FE}" dt="2025-11-06T05:37:06.645" v="909" actId="1076"/>
          <ac:picMkLst>
            <pc:docMk/>
            <pc:sldMk cId="3976705041" sldId="257"/>
            <ac:picMk id="6" creationId="{30A2485F-0CF9-79D0-92C7-8E2835245112}"/>
          </ac:picMkLst>
        </pc:picChg>
      </pc:sldChg>
      <pc:sldChg chg="mod modShow">
        <pc:chgData name="satya prasad avr avr" userId="1250b6a2a52c88fc" providerId="LiveId" clId="{1946D514-D95B-4E13-9C17-834F379012FE}" dt="2025-11-07T09:25:58.711" v="918" actId="729"/>
        <pc:sldMkLst>
          <pc:docMk/>
          <pc:sldMk cId="2171364891" sldId="262"/>
        </pc:sldMkLst>
      </pc:sldChg>
      <pc:sldChg chg="addSp modSp mod">
        <pc:chgData name="satya prasad avr avr" userId="1250b6a2a52c88fc" providerId="LiveId" clId="{1946D514-D95B-4E13-9C17-834F379012FE}" dt="2025-11-06T05:31:55.436" v="908"/>
        <pc:sldMkLst>
          <pc:docMk/>
          <pc:sldMk cId="4058227343" sldId="263"/>
        </pc:sldMkLst>
        <pc:spChg chg="mod">
          <ac:chgData name="satya prasad avr avr" userId="1250b6a2a52c88fc" providerId="LiveId" clId="{1946D514-D95B-4E13-9C17-834F379012FE}" dt="2025-11-06T05:31:46.293" v="907" actId="6549"/>
          <ac:spMkLst>
            <pc:docMk/>
            <pc:sldMk cId="4058227343" sldId="263"/>
            <ac:spMk id="3" creationId="{36253641-857A-E4AE-50E6-8E40389C170C}"/>
          </ac:spMkLst>
        </pc:spChg>
        <pc:picChg chg="add mod">
          <ac:chgData name="satya prasad avr avr" userId="1250b6a2a52c88fc" providerId="LiveId" clId="{1946D514-D95B-4E13-9C17-834F379012FE}" dt="2025-11-06T05:27:01.524" v="620" actId="14100"/>
          <ac:picMkLst>
            <pc:docMk/>
            <pc:sldMk cId="4058227343" sldId="263"/>
            <ac:picMk id="5" creationId="{F2EE6E90-060C-D40D-F627-1373730CDC95}"/>
          </ac:picMkLst>
        </pc:picChg>
      </pc:sldChg>
      <pc:sldChg chg="addSp modSp new mod modShow">
        <pc:chgData name="satya prasad avr avr" userId="1250b6a2a52c88fc" providerId="LiveId" clId="{1946D514-D95B-4E13-9C17-834F379012FE}" dt="2025-11-07T09:25:30.546" v="916" actId="729"/>
        <pc:sldMkLst>
          <pc:docMk/>
          <pc:sldMk cId="1180562045" sldId="269"/>
        </pc:sldMkLst>
        <pc:spChg chg="mod">
          <ac:chgData name="satya prasad avr avr" userId="1250b6a2a52c88fc" providerId="LiveId" clId="{1946D514-D95B-4E13-9C17-834F379012FE}" dt="2025-11-03T07:56:48.469" v="122" actId="14100"/>
          <ac:spMkLst>
            <pc:docMk/>
            <pc:sldMk cId="1180562045" sldId="269"/>
            <ac:spMk id="2" creationId="{677EF657-FB8B-59A1-C115-1294D9C7EFEF}"/>
          </ac:spMkLst>
        </pc:spChg>
        <pc:spChg chg="mod">
          <ac:chgData name="satya prasad avr avr" userId="1250b6a2a52c88fc" providerId="LiveId" clId="{1946D514-D95B-4E13-9C17-834F379012FE}" dt="2025-11-03T08:06:52.240" v="381" actId="14100"/>
          <ac:spMkLst>
            <pc:docMk/>
            <pc:sldMk cId="1180562045" sldId="269"/>
            <ac:spMk id="3" creationId="{5DE864CE-7E11-CB25-B020-50218EFEC324}"/>
          </ac:spMkLst>
        </pc:spChg>
        <pc:spChg chg="add">
          <ac:chgData name="satya prasad avr avr" userId="1250b6a2a52c88fc" providerId="LiveId" clId="{1946D514-D95B-4E13-9C17-834F379012FE}" dt="2025-11-03T07:53:07.465" v="87"/>
          <ac:spMkLst>
            <pc:docMk/>
            <pc:sldMk cId="1180562045" sldId="269"/>
            <ac:spMk id="6" creationId="{33009AE3-0550-FDCA-2832-D91BD5D04232}"/>
          </ac:spMkLst>
        </pc:spChg>
      </pc:sldChg>
      <pc:sldChg chg="addSp delSp modSp new mod modClrScheme modShow chgLayout">
        <pc:chgData name="satya prasad avr avr" userId="1250b6a2a52c88fc" providerId="LiveId" clId="{1946D514-D95B-4E13-9C17-834F379012FE}" dt="2025-11-07T09:25:32.731" v="917" actId="729"/>
        <pc:sldMkLst>
          <pc:docMk/>
          <pc:sldMk cId="3121029590" sldId="270"/>
        </pc:sldMkLst>
        <pc:spChg chg="add del mod">
          <ac:chgData name="satya prasad avr avr" userId="1250b6a2a52c88fc" providerId="LiveId" clId="{1946D514-D95B-4E13-9C17-834F379012FE}" dt="2025-11-03T08:06:42.260" v="380" actId="255"/>
          <ac:spMkLst>
            <pc:docMk/>
            <pc:sldMk cId="3121029590" sldId="270"/>
            <ac:spMk id="3" creationId="{09B6316B-86E1-DE11-7485-8BD9726B4D0F}"/>
          </ac:spMkLst>
        </pc:spChg>
      </pc:sldChg>
      <pc:sldChg chg="addSp delSp modSp new mod ord">
        <pc:chgData name="satya prasad avr avr" userId="1250b6a2a52c88fc" providerId="LiveId" clId="{1946D514-D95B-4E13-9C17-834F379012FE}" dt="2025-11-06T05:20:17.382" v="542"/>
        <pc:sldMkLst>
          <pc:docMk/>
          <pc:sldMk cId="2956476797" sldId="271"/>
        </pc:sldMkLst>
        <pc:spChg chg="mod">
          <ac:chgData name="satya prasad avr avr" userId="1250b6a2a52c88fc" providerId="LiveId" clId="{1946D514-D95B-4E13-9C17-834F379012FE}" dt="2025-11-06T05:03:50.077" v="471" actId="113"/>
          <ac:spMkLst>
            <pc:docMk/>
            <pc:sldMk cId="2956476797" sldId="271"/>
            <ac:spMk id="2" creationId="{66400D92-AF20-E350-D513-290386A894C2}"/>
          </ac:spMkLst>
        </pc:spChg>
        <pc:picChg chg="add mod ord">
          <ac:chgData name="satya prasad avr avr" userId="1250b6a2a52c88fc" providerId="LiveId" clId="{1946D514-D95B-4E13-9C17-834F379012FE}" dt="2025-11-06T05:06:19.955" v="488" actId="1076"/>
          <ac:picMkLst>
            <pc:docMk/>
            <pc:sldMk cId="2956476797" sldId="271"/>
            <ac:picMk id="5" creationId="{C4FD3C21-A83A-06BB-4E1F-9484CC622AA7}"/>
          </ac:picMkLst>
        </pc:picChg>
        <pc:picChg chg="add mod">
          <ac:chgData name="satya prasad avr avr" userId="1250b6a2a52c88fc" providerId="LiveId" clId="{1946D514-D95B-4E13-9C17-834F379012FE}" dt="2025-11-06T05:06:25.282" v="490" actId="14100"/>
          <ac:picMkLst>
            <pc:docMk/>
            <pc:sldMk cId="2956476797" sldId="271"/>
            <ac:picMk id="7" creationId="{925F863E-2062-3685-95A7-0EB25191F411}"/>
          </ac:picMkLst>
        </pc:picChg>
        <pc:picChg chg="add mod">
          <ac:chgData name="satya prasad avr avr" userId="1250b6a2a52c88fc" providerId="LiveId" clId="{1946D514-D95B-4E13-9C17-834F379012FE}" dt="2025-11-06T05:06:32.461" v="493" actId="14100"/>
          <ac:picMkLst>
            <pc:docMk/>
            <pc:sldMk cId="2956476797" sldId="271"/>
            <ac:picMk id="9" creationId="{15320B7C-F1FC-F3FD-4F2A-253BA078D24A}"/>
          </ac:picMkLst>
        </pc:picChg>
      </pc:sldChg>
      <pc:sldChg chg="addSp delSp modSp new mod ord">
        <pc:chgData name="satya prasad avr avr" userId="1250b6a2a52c88fc" providerId="LiveId" clId="{1946D514-D95B-4E13-9C17-834F379012FE}" dt="2025-11-06T05:20:23.948" v="544"/>
        <pc:sldMkLst>
          <pc:docMk/>
          <pc:sldMk cId="1839762087" sldId="272"/>
        </pc:sldMkLst>
        <pc:spChg chg="mod">
          <ac:chgData name="satya prasad avr avr" userId="1250b6a2a52c88fc" providerId="LiveId" clId="{1946D514-D95B-4E13-9C17-834F379012FE}" dt="2025-11-06T05:16:32.806" v="536" actId="20577"/>
          <ac:spMkLst>
            <pc:docMk/>
            <pc:sldMk cId="1839762087" sldId="272"/>
            <ac:spMk id="2" creationId="{3065CE12-63D2-8778-4E39-D50E920FF378}"/>
          </ac:spMkLst>
        </pc:spChg>
        <pc:picChg chg="add mod ord">
          <ac:chgData name="satya prasad avr avr" userId="1250b6a2a52c88fc" providerId="LiveId" clId="{1946D514-D95B-4E13-9C17-834F379012FE}" dt="2025-11-06T05:16:07.679" v="532" actId="14100"/>
          <ac:picMkLst>
            <pc:docMk/>
            <pc:sldMk cId="1839762087" sldId="272"/>
            <ac:picMk id="5" creationId="{B98741A6-DBF3-14EA-FC87-424333172C85}"/>
          </ac:picMkLst>
        </pc:picChg>
        <pc:picChg chg="add mod">
          <ac:chgData name="satya prasad avr avr" userId="1250b6a2a52c88fc" providerId="LiveId" clId="{1946D514-D95B-4E13-9C17-834F379012FE}" dt="2025-11-06T05:16:05.235" v="531" actId="14100"/>
          <ac:picMkLst>
            <pc:docMk/>
            <pc:sldMk cId="1839762087" sldId="272"/>
            <ac:picMk id="7" creationId="{76687062-375B-F159-E972-BA284C1448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42724-9B93-4633-AB03-CFF331ACB16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63735-7152-4FF9-B280-A044240D8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68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63735-7152-4FF9-B280-A044240D8F0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173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A865-A3FF-0904-D8E0-7F6EDFF94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EDAD8-FEF2-CFC3-394E-815C3FAB2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8996-936A-6527-CCCB-9DE113E4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53C87-4AB5-88D1-6DA4-1D6E3F24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1E463-2551-D7B2-FCC4-14B0DB4C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0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C90F-6456-A39B-9085-2EF38E84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184D6-F3D5-6146-075A-32D2B12D2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8A362-5EED-A01D-CE93-7DE1279E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EF97E-A485-A753-904C-4BA0EF09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6F24B-90A8-C9E6-92ED-4B3BD9D7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84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C7DD-9E69-B69A-92FE-7FA8D936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50430-5F88-5084-E4E4-6165C8B8F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753C9-4D1E-4A02-64D5-F4F55BDB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704EA-E307-2AE3-F676-8703620F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DCA3B-8ABF-5C14-EA38-27C2ACF7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12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244C-80AD-BE68-997F-93E8FEC9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3984-666D-A7B5-6CB5-5AF5A59D3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A7F3E-A267-9228-8EF0-7D3B5D0BA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45684-B5C6-48FB-0877-DB07C1361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527C1-27B2-C9A0-ACC9-453B169F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3AA0E-10DA-5914-3368-B13207CA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1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BCD3-55CD-9C55-B7B3-ED6EEF0F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A48DE-F1A9-C19F-17D6-98F2B436B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CA0F9-52BC-AB23-4F9E-EBDAFD788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455F0-653B-86CD-736A-246DA6CD7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50B47-7075-AA0C-CF75-CD4984A6A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83B5FB-A011-EB03-5052-31CBAB7B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D355A-B5CE-C13E-EB82-C7C86B6B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ED95B4-2E4E-4773-C888-C0CD61E1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6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BA29-35D3-55A8-EFF5-9147DC14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ECE265-770F-4ECE-06B6-B0A1343F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26D65-E9D4-766D-94C1-B6B43A57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1C9B9-B48E-0CB4-2251-2BBC4227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F5086-DF79-A262-E7E2-9CF07C78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73612-E82E-9E8D-CAD2-71DD79511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087A-6870-0B39-16D3-ADE3A454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71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EC4E-DE2C-B5A7-06F9-7055E2CD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AAAF4-7502-49A9-2845-EDF9DD296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9E2A8-1099-A891-7711-62DE5FB19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D3F16-E3D4-0E8F-F144-F2BAFC69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20882-DF53-6641-590C-5489720D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9969A-FB92-61CA-6B5D-E78B26663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13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F143-C192-0E2B-F1EE-D295EB3C6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A4B834-0603-CE40-81F1-2CDDBF4701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6462A-F9E5-AB9E-71F0-120F9B8C8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794A0-5F45-C7C8-6EDC-003161F2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95A88-6606-1073-A870-40A03FA7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1FFC8-8ED3-8304-F381-5D17D1E9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780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2073-E6FD-0D70-EA9E-0775B174F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0B043-6948-F91D-B4CA-9722435BD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48F0A-5DFD-A517-4F85-138276E5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46909-106E-A76B-8A3A-83ABFFBC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B26C3-B83A-D2EC-234B-52EDF43C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95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2DFAE8-BFEE-BEE3-3164-AEB727D77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13F22-612B-092F-A1DC-AEC8BED4C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7590B-2908-5549-78FB-FBF8A799E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41110-F87D-9E6D-58B9-284B3AFE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90FDB-8EF9-2BA7-35D6-45E6EA35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649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FEEB3-894F-748F-2A8A-3FB18892F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11E04-28CD-71EC-B3DC-5F4439E2B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4E767-A2D9-8182-B02A-60F855361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CE06A-7522-4016-9442-3C93C48ACBEF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D96DA-569D-DCC1-69B5-F439FA294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50603-9E6F-CF25-6DAA-64C76F3F3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8CDAD-73F2-4FE9-A70F-CEC030B47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11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EAD7-9A99-E2EB-3B64-61A05233D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816" y="1043440"/>
            <a:ext cx="3932237" cy="250076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AI &amp; ML(</a:t>
            </a:r>
            <a:r>
              <a:rPr lang="en-IN" b="1" dirty="0" err="1"/>
              <a:t>24AD2001</a:t>
            </a:r>
            <a:r>
              <a:rPr lang="en-IN" b="1" dirty="0"/>
              <a:t>)</a:t>
            </a:r>
            <a:br>
              <a:rPr lang="en-IN" b="1" dirty="0"/>
            </a:br>
            <a:r>
              <a:rPr lang="en-IN" b="1" dirty="0"/>
              <a:t>REVIEW 4:</a:t>
            </a:r>
            <a:br>
              <a:rPr lang="en-IN" b="1" dirty="0"/>
            </a:br>
            <a:r>
              <a:rPr lang="en-IN" b="1" dirty="0"/>
              <a:t>AI-Based Drowsiness Detection For Drivers</a:t>
            </a:r>
            <a:br>
              <a:rPr lang="en-IN" b="1" dirty="0"/>
            </a:br>
            <a:r>
              <a:rPr lang="en-IN" b="1" dirty="0"/>
              <a:t>CC: Dr. Sudharsana</a:t>
            </a:r>
            <a:br>
              <a:rPr lang="en-IN" b="1" dirty="0"/>
            </a:br>
            <a:br>
              <a:rPr lang="en-IN" b="1" dirty="0"/>
            </a:br>
            <a:endParaRPr lang="en-IN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0A2485F-0CF9-79D0-92C7-8E283524511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0" r="14280"/>
          <a:stretch>
            <a:fillRect/>
          </a:stretch>
        </p:blipFill>
        <p:spPr>
          <a:xfrm>
            <a:off x="5540828" y="1513115"/>
            <a:ext cx="6173788" cy="497930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CDEB5-03EF-3D27-CC5E-998C564D8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1188" y="3138033"/>
            <a:ext cx="3932237" cy="2723017"/>
          </a:xfrm>
        </p:spPr>
        <p:txBody>
          <a:bodyPr>
            <a:normAutofit lnSpcReduction="10000"/>
          </a:bodyPr>
          <a:lstStyle/>
          <a:p>
            <a:r>
              <a:rPr lang="en-IN" sz="2000" b="1" dirty="0"/>
              <a:t>Group 9:</a:t>
            </a:r>
          </a:p>
          <a:p>
            <a:r>
              <a:rPr lang="en-IN" sz="2000" b="1" dirty="0"/>
              <a:t>2410040009</a:t>
            </a:r>
          </a:p>
          <a:p>
            <a:r>
              <a:rPr lang="en-IN" sz="2000" b="1" dirty="0"/>
              <a:t>2410040013</a:t>
            </a:r>
          </a:p>
          <a:p>
            <a:r>
              <a:rPr lang="en-IN" sz="2000" b="1" dirty="0"/>
              <a:t>2410040014</a:t>
            </a:r>
          </a:p>
          <a:p>
            <a:r>
              <a:rPr lang="en-IN" sz="2000" b="1" dirty="0"/>
              <a:t>2410040015</a:t>
            </a:r>
          </a:p>
          <a:p>
            <a:r>
              <a:rPr lang="en-IN" sz="2000" b="1" dirty="0"/>
              <a:t>2410040135</a:t>
            </a:r>
          </a:p>
          <a:p>
            <a:r>
              <a:rPr lang="en-IN" sz="2000" b="1" dirty="0"/>
              <a:t>2410040136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49E8E-74D0-70E8-6633-D1CC02460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571" y="242433"/>
            <a:ext cx="3768045" cy="110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0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60C8C-594B-760C-06E0-824A18B6B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363DF-6F9F-1CCE-E7AF-FDE737564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1971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Introduction : The Problem &amp; Our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Literature Survey: Existing Methods &amp; Gaps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Dataset Selection: UTA-</a:t>
            </a:r>
            <a:r>
              <a:rPr lang="en-IN" dirty="0" err="1"/>
              <a:t>RLDD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 Selection: Explored &amp; Chosen Models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Results &amp; Evaluation: Performance Metrics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Future Scope &amp; Enhancements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AutoShape 2" descr="AI Driver Monitoring System">
            <a:extLst>
              <a:ext uri="{FF2B5EF4-FFF2-40B4-BE49-F238E27FC236}">
                <a16:creationId xmlns:a16="http://schemas.microsoft.com/office/drawing/2014/main" id="{E7A8ABAF-2335-4BAD-8063-510C0FDC9E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58886" cy="305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AD6843-6680-480F-1E57-62FDAA2FD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944" y="1825625"/>
            <a:ext cx="3603169" cy="292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2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78FEF-1BA3-6BBE-ACD1-FFC91FE8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Introduction-The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65AE-27AD-8FD8-E3A8-D90B092A3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The Core Problem: </a:t>
            </a:r>
            <a:r>
              <a:rPr lang="en-US" dirty="0"/>
              <a:t>Driver drowsiness is a major, often unnoticed, contributor to severe road accidents, injuries, and fatalities.</a:t>
            </a:r>
          </a:p>
          <a:p>
            <a:r>
              <a:rPr lang="en-IN" b="1" dirty="0"/>
              <a:t>High-Risk Scenarios: </a:t>
            </a:r>
            <a:r>
              <a:rPr lang="en-US" dirty="0"/>
              <a:t>The risk is highest during long-haul drives, monotonous highway travel, and at night.</a:t>
            </a:r>
          </a:p>
          <a:p>
            <a:r>
              <a:rPr lang="en-IN" b="1" dirty="0"/>
              <a:t>The Safety Gap: </a:t>
            </a:r>
            <a:r>
              <a:rPr lang="en-US" dirty="0"/>
              <a:t>Drivers often fail to recognize their own fatigue until it is too late.</a:t>
            </a:r>
          </a:p>
          <a:p>
            <a:r>
              <a:rPr lang="en-IN" b="1" dirty="0"/>
              <a:t>Our Objective: </a:t>
            </a:r>
            <a:r>
              <a:rPr lang="en-US" dirty="0"/>
              <a:t>To prevent accidents by creating an AI-powered system that detects early signs of drowsiness and provides immediate, real-time alerts.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8245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8289-DEF1-DE47-E8A8-AE317B6B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A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9F79-2102-B8D8-E9D3-191D29877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r>
              <a:rPr lang="en-US" sz="2600" b="1" dirty="0"/>
              <a:t>Project Goal:</a:t>
            </a:r>
            <a:r>
              <a:rPr lang="en-US" sz="2600" dirty="0"/>
              <a:t> To design a non-invasive, camera-based system that continuously monitors driver alertness.</a:t>
            </a:r>
          </a:p>
          <a:p>
            <a:r>
              <a:rPr lang="en-US" sz="2600" b="1" dirty="0"/>
              <a:t>System Architecture:</a:t>
            </a:r>
            <a:endParaRPr lang="en-US" sz="2600" dirty="0"/>
          </a:p>
          <a:p>
            <a:pPr lvl="1"/>
            <a:r>
              <a:rPr lang="en-US" sz="2600" b="1" dirty="0"/>
              <a:t>Input:</a:t>
            </a:r>
            <a:r>
              <a:rPr lang="en-US" sz="2600" dirty="0"/>
              <a:t> A camera captures a live video feed of the driver's face.</a:t>
            </a:r>
          </a:p>
          <a:p>
            <a:pPr lvl="1"/>
            <a:r>
              <a:rPr lang="en-US" sz="2600" b="1" dirty="0"/>
              <a:t>Processing:</a:t>
            </a:r>
            <a:r>
              <a:rPr lang="en-US" sz="2600" dirty="0"/>
              <a:t> AI algorithms (Computer Vision) analyze the feed in real-time.</a:t>
            </a:r>
          </a:p>
          <a:p>
            <a:pPr lvl="1"/>
            <a:r>
              <a:rPr lang="en-US" sz="2600" b="1" dirty="0"/>
              <a:t>Analysis:</a:t>
            </a:r>
            <a:r>
              <a:rPr lang="en-US" sz="2600" dirty="0"/>
              <a:t> The system tracks key facial indicators of fatigue:</a:t>
            </a:r>
          </a:p>
          <a:p>
            <a:pPr lvl="3"/>
            <a:r>
              <a:rPr lang="en-US" sz="2600" dirty="0"/>
              <a:t>Eye movements (blink rate, duration of closure)</a:t>
            </a:r>
          </a:p>
          <a:p>
            <a:pPr lvl="3"/>
            <a:r>
              <a:rPr lang="en-IN" sz="2600" dirty="0"/>
              <a:t>Yawning frequency</a:t>
            </a:r>
            <a:endParaRPr lang="en-US" sz="2600" dirty="0"/>
          </a:p>
          <a:p>
            <a:pPr lvl="1"/>
            <a:r>
              <a:rPr lang="en-US" sz="2600" b="1" dirty="0"/>
              <a:t>Output:</a:t>
            </a:r>
            <a:r>
              <a:rPr lang="en-US" sz="2600" dirty="0"/>
              <a:t> An immediate audio-visual alert is triggered if drowsiness is </a:t>
            </a:r>
            <a:r>
              <a:rPr lang="en-US" sz="2600" dirty="0" err="1"/>
              <a:t>detecte</a:t>
            </a:r>
            <a:r>
              <a:rPr lang="en-IN" sz="2600" dirty="0"/>
              <a:t>d.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70691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7AE3D-E30B-DE8F-708A-A85F1EB3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064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Literature Survey-Key Methodologies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1396B-B33E-FB62-05DF-387F06EDE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415144"/>
            <a:ext cx="6117771" cy="5077732"/>
          </a:xfrm>
        </p:spPr>
        <p:txBody>
          <a:bodyPr>
            <a:normAutofit/>
          </a:bodyPr>
          <a:lstStyle/>
          <a:p>
            <a:r>
              <a:rPr lang="en-US" sz="1900" b="1" dirty="0"/>
              <a:t>Common Approach:</a:t>
            </a:r>
            <a:r>
              <a:rPr lang="en-US" sz="1900" dirty="0"/>
              <a:t> Most research leverages Computer Vision (OpenCV, </a:t>
            </a:r>
            <a:r>
              <a:rPr lang="en-US" sz="1900" dirty="0" err="1"/>
              <a:t>dlib</a:t>
            </a:r>
            <a:r>
              <a:rPr lang="en-US" sz="1900" dirty="0"/>
              <a:t>) and Machine Learning.</a:t>
            </a:r>
          </a:p>
          <a:p>
            <a:r>
              <a:rPr lang="en-IN" sz="1900" b="1" dirty="0"/>
              <a:t>Key Techniques Studied:</a:t>
            </a:r>
          </a:p>
          <a:p>
            <a:pPr lvl="1"/>
            <a:r>
              <a:rPr lang="en-US" sz="1900" b="1" dirty="0"/>
              <a:t>Facial Landmark Detection:</a:t>
            </a:r>
            <a:r>
              <a:rPr lang="en-US" sz="1900" dirty="0"/>
              <a:t> Identifying key points (eyes, mouth) to track their movement.</a:t>
            </a:r>
          </a:p>
          <a:p>
            <a:pPr lvl="1"/>
            <a:r>
              <a:rPr lang="en-IN" sz="1900" b="1" dirty="0"/>
              <a:t>Feature-Based Calculation:</a:t>
            </a:r>
          </a:p>
          <a:p>
            <a:pPr lvl="2"/>
            <a:r>
              <a:rPr lang="en-US" sz="1700" b="1" dirty="0"/>
              <a:t>Eye Aspect Ratio (EAR):</a:t>
            </a:r>
            <a:r>
              <a:rPr lang="en-US" sz="1700" dirty="0"/>
              <a:t> A widely used metric to quantify eye closure.</a:t>
            </a:r>
          </a:p>
          <a:p>
            <a:pPr lvl="2"/>
            <a:r>
              <a:rPr lang="en-US" sz="1700" b="1" dirty="0"/>
              <a:t>Blink Frequency:</a:t>
            </a:r>
            <a:r>
              <a:rPr lang="en-US" sz="1700" dirty="0"/>
              <a:t> Measuring the rate of blinks.</a:t>
            </a:r>
          </a:p>
          <a:p>
            <a:pPr lvl="2"/>
            <a:r>
              <a:rPr lang="en-US" sz="1700" b="1" dirty="0"/>
              <a:t>Mouth Opening Ratio (MAR):</a:t>
            </a:r>
            <a:r>
              <a:rPr lang="en-US" sz="1700" dirty="0"/>
              <a:t> Used to detect yawning.</a:t>
            </a:r>
          </a:p>
          <a:p>
            <a:pPr lvl="1"/>
            <a:r>
              <a:rPr lang="en-IN" sz="1900" b="1" dirty="0"/>
              <a:t>Deep Learning Models:</a:t>
            </a:r>
          </a:p>
          <a:p>
            <a:pPr lvl="2"/>
            <a:r>
              <a:rPr lang="en-US" sz="1700" b="1" dirty="0"/>
              <a:t>Convolutional Neural Networks (</a:t>
            </a:r>
            <a:r>
              <a:rPr lang="en-US" sz="1700" b="1" dirty="0" err="1"/>
              <a:t>CNNs</a:t>
            </a:r>
            <a:r>
              <a:rPr lang="en-US" sz="1700" b="1" dirty="0"/>
              <a:t>)</a:t>
            </a:r>
            <a:r>
              <a:rPr lang="en-US" sz="1700" dirty="0"/>
              <a:t> are highly effective.</a:t>
            </a:r>
          </a:p>
          <a:p>
            <a:pPr lvl="2"/>
            <a:r>
              <a:rPr lang="en-US" sz="1700" b="1" dirty="0" err="1"/>
              <a:t>VigilEye</a:t>
            </a:r>
            <a:r>
              <a:rPr lang="en-US" sz="1700" b="1" dirty="0"/>
              <a:t> (</a:t>
            </a:r>
            <a:r>
              <a:rPr lang="en-US" sz="1700" b="1" dirty="0" err="1"/>
              <a:t>Sengar</a:t>
            </a:r>
            <a:r>
              <a:rPr lang="en-US" sz="1700" b="1" dirty="0"/>
              <a:t> et al., 2024):</a:t>
            </a:r>
            <a:r>
              <a:rPr lang="en-US" sz="1700" dirty="0"/>
              <a:t> Uses </a:t>
            </a:r>
            <a:r>
              <a:rPr lang="en-US" sz="1700" dirty="0" err="1"/>
              <a:t>CNNs</a:t>
            </a:r>
            <a:r>
              <a:rPr lang="en-US" sz="1700" dirty="0"/>
              <a:t> and OpenCV to analyze eye closure and yawning, achieving high accuracy in real-time.</a:t>
            </a:r>
          </a:p>
          <a:p>
            <a:pPr lvl="2"/>
            <a:endParaRPr lang="en-IN" sz="1600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510C731-D370-4124-0A27-F47662A2EC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67598" y="1885497"/>
            <a:ext cx="2416629" cy="17884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8F43C9-9EEF-C51F-C51F-105E6A5C1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1943" y="1825625"/>
            <a:ext cx="1981200" cy="1603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EF891D-BC84-16F2-87AB-333E1A531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598" y="3918857"/>
            <a:ext cx="2416630" cy="15137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02BD71-EE0B-CFD0-8461-730A81FF4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1943" y="3918857"/>
            <a:ext cx="1981201" cy="151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56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E1D2A-F067-6660-6093-C5274544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Literature Survey-Challenges &amp; Gaps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EE72B9-E14F-1AAB-3C60-217F759B0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5771"/>
            <a:ext cx="5932714" cy="5029200"/>
          </a:xfrm>
        </p:spPr>
        <p:txBody>
          <a:bodyPr>
            <a:normAutofit lnSpcReduction="10000"/>
          </a:bodyPr>
          <a:lstStyle/>
          <a:p>
            <a:r>
              <a:rPr lang="en-IN" sz="2000" b="1" dirty="0"/>
              <a:t>Environmental Challenges:</a:t>
            </a:r>
          </a:p>
          <a:p>
            <a:pPr marL="0" indent="0">
              <a:buNone/>
            </a:pPr>
            <a:r>
              <a:rPr lang="en-IN" sz="2000" b="1" dirty="0"/>
              <a:t>    </a:t>
            </a:r>
            <a:r>
              <a:rPr lang="en-IN" sz="2000" dirty="0"/>
              <a:t>Lighting: </a:t>
            </a:r>
            <a:r>
              <a:rPr lang="en-US" sz="1800" dirty="0"/>
              <a:t>Poor performance in very low-light or high-glare conditions.</a:t>
            </a:r>
            <a:endParaRPr lang="en-IN" sz="1800" dirty="0"/>
          </a:p>
          <a:p>
            <a:pPr marL="0" indent="0">
              <a:buNone/>
            </a:pPr>
            <a:r>
              <a:rPr lang="en-IN" sz="2000" b="1" dirty="0"/>
              <a:t>     </a:t>
            </a:r>
            <a:r>
              <a:rPr lang="en-IN" sz="2000" dirty="0"/>
              <a:t>Occlusions: </a:t>
            </a:r>
            <a:r>
              <a:rPr lang="en-US" sz="1800" dirty="0"/>
              <a:t>System can fail if the driver's face is obscured (e.g., sunglasses, masks).</a:t>
            </a:r>
            <a:endParaRPr lang="en-IN" sz="1800" b="1" dirty="0"/>
          </a:p>
          <a:p>
            <a:r>
              <a:rPr lang="en-IN" sz="2000" b="1" dirty="0"/>
              <a:t>Human Factors:</a:t>
            </a:r>
          </a:p>
          <a:p>
            <a:pPr marL="0" indent="0">
              <a:buNone/>
            </a:pPr>
            <a:r>
              <a:rPr lang="en-IN" sz="2000" b="1" dirty="0"/>
              <a:t>      </a:t>
            </a:r>
            <a:r>
              <a:rPr lang="en-US" sz="2000" dirty="0"/>
              <a:t>Variability</a:t>
            </a:r>
            <a:r>
              <a:rPr lang="en-US" sz="1800" dirty="0"/>
              <a:t>: Different individuals show fatigue in different ways.</a:t>
            </a:r>
            <a:endParaRPr lang="en-IN" sz="1800" b="1" dirty="0"/>
          </a:p>
          <a:p>
            <a:r>
              <a:rPr lang="en-IN" sz="2000" b="1" dirty="0"/>
              <a:t>Technical Challenges:</a:t>
            </a:r>
          </a:p>
          <a:p>
            <a:pPr marL="0" indent="0">
              <a:buNone/>
            </a:pPr>
            <a:r>
              <a:rPr lang="en-IN" sz="2000" b="1" dirty="0"/>
              <a:t>      </a:t>
            </a:r>
            <a:r>
              <a:rPr lang="en-US" sz="2000" dirty="0"/>
              <a:t>Real-Time Processing</a:t>
            </a:r>
            <a:r>
              <a:rPr lang="en-US" sz="1800" dirty="0"/>
              <a:t>: The system must have near-zero latency to be effective.</a:t>
            </a:r>
          </a:p>
          <a:p>
            <a:pPr marL="0" indent="0">
              <a:buNone/>
            </a:pPr>
            <a:r>
              <a:rPr lang="en-IN" sz="1800" b="1" dirty="0"/>
              <a:t>       </a:t>
            </a:r>
            <a:r>
              <a:rPr lang="en-US" sz="2000" dirty="0"/>
              <a:t>Efficiency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1900" dirty="0"/>
              <a:t>Models must be lightweight to run on embedded hardware (like a Raspberry Pi) in a vehicle.</a:t>
            </a:r>
            <a:endParaRPr lang="en-IN" sz="1900" b="1" dirty="0"/>
          </a:p>
          <a:p>
            <a:r>
              <a:rPr lang="en-IN" sz="2000" b="1" dirty="0"/>
              <a:t>Our Project's Focus:</a:t>
            </a:r>
            <a:r>
              <a:rPr lang="en-IN" sz="2000" dirty="0"/>
              <a:t> </a:t>
            </a:r>
            <a:r>
              <a:rPr lang="en-US" sz="1900" dirty="0"/>
              <a:t>To build a system that is both fast and robust enough for real-world use.</a:t>
            </a:r>
            <a:endParaRPr lang="en-IN" sz="1900" dirty="0"/>
          </a:p>
          <a:p>
            <a:endParaRPr lang="en-IN" sz="2000" b="1" dirty="0"/>
          </a:p>
        </p:txBody>
      </p:sp>
      <p:pic>
        <p:nvPicPr>
          <p:cNvPr id="4100" name="Picture 4" descr="Real-Time Deep Learning-Based Drowsiness Detection: Leveraging  Computer-Vision and Eye-Blink Analyses for Enhanced Road Safety">
            <a:extLst>
              <a:ext uri="{FF2B5EF4-FFF2-40B4-BE49-F238E27FC236}">
                <a16:creationId xmlns:a16="http://schemas.microsoft.com/office/drawing/2014/main" id="{3D9CD835-E7E5-2886-09C4-3A315E6ECAA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825625"/>
            <a:ext cx="3962400" cy="419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36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196F-A571-5529-5054-55E015E55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589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Dataset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53641-857A-E4AE-50E6-8E40389C1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30"/>
            <a:ext cx="6814457" cy="4674734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/>
              <a:t>Dataset:</a:t>
            </a:r>
            <a:r>
              <a:rPr lang="en-IN" sz="2000" dirty="0"/>
              <a:t> open-closed-eyes-dataset</a:t>
            </a:r>
          </a:p>
          <a:p>
            <a:r>
              <a:rPr lang="en-US" sz="2000" b="1" dirty="0"/>
              <a:t>Source: KAGGLE</a:t>
            </a:r>
            <a:endParaRPr lang="en-US" sz="2000" dirty="0"/>
          </a:p>
          <a:p>
            <a:r>
              <a:rPr lang="en-IN" sz="2000" b="1" dirty="0"/>
              <a:t>Key Statistics:</a:t>
            </a:r>
          </a:p>
          <a:p>
            <a:pPr lvl="2"/>
            <a:r>
              <a:rPr lang="en-US" dirty="0"/>
              <a:t>Over 3,000 labeled images of eye(open and closed)</a:t>
            </a:r>
          </a:p>
          <a:p>
            <a:pPr lvl="2"/>
            <a:r>
              <a:rPr lang="en-IN" dirty="0"/>
              <a:t>Ideal for real-time model training </a:t>
            </a:r>
          </a:p>
          <a:p>
            <a:pPr lvl="2"/>
            <a:r>
              <a:rPr lang="en-US" dirty="0"/>
              <a:t>Suitable for frame-by-frame analysis of eye state</a:t>
            </a:r>
            <a:endParaRPr lang="en-IN" dirty="0"/>
          </a:p>
          <a:p>
            <a:r>
              <a:rPr lang="en-IN" sz="2000" b="1" dirty="0"/>
              <a:t>Why We Chose It:</a:t>
            </a:r>
          </a:p>
          <a:p>
            <a:pPr lvl="2"/>
            <a:r>
              <a:rPr lang="en-US" b="1" dirty="0"/>
              <a:t>Realistic:</a:t>
            </a:r>
            <a:r>
              <a:rPr lang="en-US" dirty="0"/>
              <a:t> Captures subjects in natural settings, not just simulated.</a:t>
            </a:r>
            <a:endParaRPr lang="en-IN" b="1" dirty="0"/>
          </a:p>
          <a:p>
            <a:pPr lvl="2"/>
            <a:r>
              <a:rPr lang="en-US" b="1" dirty="0"/>
              <a:t>Diverse:</a:t>
            </a:r>
            <a:r>
              <a:rPr lang="en-US" dirty="0"/>
              <a:t> Includes varied lighting, facial orientations, and subject demographics.</a:t>
            </a:r>
          </a:p>
          <a:p>
            <a:pPr lvl="2"/>
            <a:r>
              <a:rPr lang="en-US" b="1" dirty="0"/>
              <a:t>Temporal Data:</a:t>
            </a:r>
            <a:r>
              <a:rPr lang="en-US" dirty="0"/>
              <a:t> Provides video (not just images), which is essential for analyzing drowsiness </a:t>
            </a:r>
            <a:r>
              <a:rPr lang="en-US" i="1" dirty="0"/>
              <a:t>patterns</a:t>
            </a:r>
            <a:r>
              <a:rPr lang="en-US" dirty="0"/>
              <a:t> over time (like blink rate).</a:t>
            </a:r>
          </a:p>
          <a:p>
            <a:pPr lvl="2"/>
            <a:r>
              <a:rPr lang="en-US" b="1" dirty="0"/>
              <a:t>Aligns with Objective:</a:t>
            </a:r>
            <a:r>
              <a:rPr lang="en-US" dirty="0"/>
              <a:t> Perfect for training and validating video-based CNN models.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E6E90-060C-D40D-F627-1373730CD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914" y="1502230"/>
            <a:ext cx="3548743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2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D041-6836-27EE-ACF3-5328BF89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736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BF8DD-FED6-7E26-ACB7-146A684F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486"/>
            <a:ext cx="10515600" cy="4794477"/>
          </a:xfrm>
        </p:spPr>
        <p:txBody>
          <a:bodyPr>
            <a:normAutofit/>
          </a:bodyPr>
          <a:lstStyle/>
          <a:p>
            <a:r>
              <a:rPr lang="en-IN" sz="2000" b="1" dirty="0"/>
              <a:t>Models Explored:</a:t>
            </a:r>
          </a:p>
          <a:p>
            <a:pPr lvl="2"/>
            <a:r>
              <a:rPr lang="en-US" b="1" dirty="0"/>
              <a:t>Support Vector Machine (</a:t>
            </a:r>
            <a:r>
              <a:rPr lang="en-US" b="1" dirty="0" err="1"/>
              <a:t>SVM</a:t>
            </a:r>
            <a:r>
              <a:rPr lang="en-US" b="1" dirty="0"/>
              <a:t>):</a:t>
            </a:r>
            <a:r>
              <a:rPr lang="en-US" dirty="0"/>
              <a:t> Used for binary classification (alert/drowsy) based on manually calculated features like EAR.</a:t>
            </a:r>
          </a:p>
          <a:p>
            <a:pPr lvl="2"/>
            <a:r>
              <a:rPr lang="en-US" b="1" dirty="0"/>
              <a:t>Random Forest:</a:t>
            </a:r>
            <a:r>
              <a:rPr lang="en-US" dirty="0"/>
              <a:t> Explored for combining multiple features (EAR, yawning, head tilt).</a:t>
            </a:r>
          </a:p>
          <a:p>
            <a:pPr lvl="2"/>
            <a:r>
              <a:rPr lang="en-US" b="1" dirty="0"/>
              <a:t>Convolutional Neural Network (CNN):</a:t>
            </a:r>
            <a:r>
              <a:rPr lang="en-US" dirty="0"/>
              <a:t> Used for end-to-end feature extraction directly from image frames.</a:t>
            </a:r>
            <a:endParaRPr lang="en-IN" b="1" dirty="0"/>
          </a:p>
          <a:p>
            <a:r>
              <a:rPr lang="en-IN" sz="2000" b="1" dirty="0"/>
              <a:t>Chosen Model: Convolutional Neural Network (CNN)</a:t>
            </a:r>
          </a:p>
          <a:p>
            <a:r>
              <a:rPr lang="en-IN" sz="2000" b="1" dirty="0"/>
              <a:t>Justification:</a:t>
            </a:r>
            <a:endParaRPr lang="en-US" sz="2000" b="1" dirty="0"/>
          </a:p>
          <a:p>
            <a:pPr lvl="2"/>
            <a:r>
              <a:rPr lang="en-US" b="1" dirty="0"/>
              <a:t>Superior Feature Extraction:</a:t>
            </a:r>
            <a:r>
              <a:rPr lang="en-US" dirty="0"/>
              <a:t> </a:t>
            </a:r>
            <a:r>
              <a:rPr lang="en-US" dirty="0" err="1"/>
              <a:t>CNNs</a:t>
            </a:r>
            <a:r>
              <a:rPr lang="en-US" dirty="0"/>
              <a:t> automatically learn the most relevant spatial patterns (like eye and mouth shape) from raw pixels, avoiding brittle, hand-crafted features.</a:t>
            </a:r>
          </a:p>
          <a:p>
            <a:pPr lvl="2"/>
            <a:r>
              <a:rPr lang="en-US" b="1" dirty="0"/>
              <a:t>High Accuracy:</a:t>
            </a:r>
            <a:r>
              <a:rPr lang="en-US" dirty="0"/>
              <a:t> Significantly outperforms traditional models on image-based tasks.</a:t>
            </a:r>
          </a:p>
          <a:p>
            <a:pPr lvl="2"/>
            <a:r>
              <a:rPr lang="en-US" b="1" dirty="0"/>
              <a:t>Real-Time Capability:</a:t>
            </a:r>
            <a:r>
              <a:rPr lang="en-US" dirty="0"/>
              <a:t> Modern </a:t>
            </a:r>
            <a:r>
              <a:rPr lang="en-US" dirty="0" err="1"/>
              <a:t>CNNs</a:t>
            </a:r>
            <a:r>
              <a:rPr lang="en-US" dirty="0"/>
              <a:t> are highly optimized and can achieve the low latency required for an instant alert.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6213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F657-FB8B-59A1-C115-1294D9C7E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571"/>
            <a:ext cx="10308771" cy="1077686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Conceptual Link: Random Variables &amp; Stochastic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64CE-7E11-CB25-B020-50218EFE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8285"/>
            <a:ext cx="10515600" cy="4539343"/>
          </a:xfrm>
        </p:spPr>
        <p:txBody>
          <a:bodyPr>
            <a:normAutofit/>
          </a:bodyPr>
          <a:lstStyle/>
          <a:p>
            <a:r>
              <a:rPr lang="en-US" sz="2000" b="1" dirty="0"/>
              <a:t>How do we model drowsiness?</a:t>
            </a:r>
            <a:r>
              <a:rPr lang="en-US" sz="2000" dirty="0"/>
              <a:t> Drowsiness isn't a fixed '</a:t>
            </a:r>
            <a:r>
              <a:rPr lang="en-US" sz="2000" dirty="0" err="1"/>
              <a:t>yes'</a:t>
            </a:r>
            <a:r>
              <a:rPr lang="en-US" sz="2000" dirty="0"/>
              <a:t> or 'no' value. It's a state that changes unpredictably over time. This is where these concepts apply.</a:t>
            </a:r>
          </a:p>
          <a:p>
            <a:r>
              <a:rPr lang="en-US" sz="2000" b="1" dirty="0"/>
              <a:t>Random Variables in Our Project:</a:t>
            </a:r>
            <a:endParaRPr lang="en-US" sz="2000" dirty="0"/>
          </a:p>
          <a:p>
            <a:pPr lvl="1"/>
            <a:r>
              <a:rPr lang="en-US" sz="2000" dirty="0"/>
              <a:t>A </a:t>
            </a:r>
            <a:r>
              <a:rPr lang="en-US" sz="2000" b="1" dirty="0"/>
              <a:t>random variable</a:t>
            </a:r>
            <a:r>
              <a:rPr lang="en-US" sz="2000" dirty="0"/>
              <a:t> is a value that changes based on a random event.</a:t>
            </a:r>
          </a:p>
          <a:p>
            <a:pPr lvl="1"/>
            <a:r>
              <a:rPr lang="en-US" sz="2000" b="1" dirty="0"/>
              <a:t>At any single moment (</a:t>
            </a:r>
            <a:r>
              <a:rPr lang="en-US" sz="2000" b="1" i="1" dirty="0"/>
              <a:t>t</a:t>
            </a:r>
            <a:r>
              <a:rPr lang="en-US" sz="2000" b="1" dirty="0"/>
              <a:t>), </a:t>
            </a:r>
            <a:r>
              <a:rPr lang="en-US" sz="2000" dirty="0"/>
              <a:t>these are our key random variables:</a:t>
            </a:r>
          </a:p>
          <a:p>
            <a:pPr lvl="2"/>
            <a:r>
              <a:rPr lang="en-US" b="1" dirty="0"/>
              <a:t>Eye Aspect Ratio (EAR):</a:t>
            </a:r>
            <a:r>
              <a:rPr lang="en-US" dirty="0"/>
              <a:t> Fluctuates randomly with each blink.</a:t>
            </a:r>
          </a:p>
          <a:p>
            <a:pPr lvl="2"/>
            <a:r>
              <a:rPr lang="en-US" b="1" dirty="0"/>
              <a:t>Mouth Opening Ratio (MAR):</a:t>
            </a:r>
            <a:r>
              <a:rPr lang="en-US" dirty="0"/>
              <a:t> Changes with speech or a yawn.</a:t>
            </a:r>
          </a:p>
          <a:p>
            <a:pPr lvl="2"/>
            <a:r>
              <a:rPr lang="en-US" b="1" dirty="0"/>
              <a:t>Head Pose (Angle):</a:t>
            </a:r>
            <a:r>
              <a:rPr lang="en-US" dirty="0"/>
              <a:t> Varies as the driver looks around or nods off.</a:t>
            </a:r>
          </a:p>
          <a:p>
            <a:pPr lvl="2"/>
            <a:r>
              <a:rPr lang="en-US" b="1" dirty="0"/>
              <a:t>Driver State:</a:t>
            </a:r>
            <a:r>
              <a:rPr lang="en-US" dirty="0"/>
              <a:t> The </a:t>
            </a:r>
            <a:r>
              <a:rPr lang="en-US" i="1" dirty="0"/>
              <a:t>true</a:t>
            </a:r>
            <a:r>
              <a:rPr lang="en-US" dirty="0"/>
              <a:t> state (Alert, Low-Vigilant, Drowsy) is a random variable we are trying to guess.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3009AE3-0550-FDCA-2832-D91BD5D04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 State: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state (Alert, Low-Vigilant, Drowsy) is a random variable we are trying to guess.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562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316B-86E1-DE11-7485-8BD9726B4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114"/>
            <a:ext cx="10515600" cy="5425849"/>
          </a:xfrm>
        </p:spPr>
        <p:txBody>
          <a:bodyPr>
            <a:normAutofit/>
          </a:bodyPr>
          <a:lstStyle/>
          <a:p>
            <a:r>
              <a:rPr lang="en-US" sz="2000" b="1" dirty="0"/>
              <a:t>Stochastic Process (The "Big Picture"):</a:t>
            </a:r>
            <a:endParaRPr lang="en-US" sz="2000" dirty="0"/>
          </a:p>
          <a:p>
            <a:pPr lvl="1"/>
            <a:r>
              <a:rPr lang="en-US" sz="2000" dirty="0"/>
              <a:t>A </a:t>
            </a:r>
            <a:r>
              <a:rPr lang="en-US" sz="2000" b="1" dirty="0"/>
              <a:t>stochastic process</a:t>
            </a:r>
            <a:r>
              <a:rPr lang="en-US" sz="2000" dirty="0"/>
              <a:t> is a sequence of random variables evolving over time.</a:t>
            </a:r>
            <a:endParaRPr lang="en-US" sz="2000" b="1" dirty="0"/>
          </a:p>
          <a:p>
            <a:pPr lvl="1"/>
            <a:r>
              <a:rPr lang="en-US" sz="2000" b="1" dirty="0"/>
              <a:t>Our video feed IS a stochastic process.</a:t>
            </a:r>
            <a:r>
              <a:rPr lang="en-US" sz="2000" dirty="0"/>
              <a:t> We aren't just looking at one snapshot; we are analyzing a </a:t>
            </a:r>
            <a:r>
              <a:rPr lang="en-US" sz="2000" i="1" dirty="0"/>
              <a:t>pattern over time</a:t>
            </a:r>
            <a:r>
              <a:rPr lang="en-US" sz="2000" dirty="0"/>
              <a:t>.</a:t>
            </a:r>
            <a:endParaRPr lang="en-IN" sz="2000" b="1" i="1" dirty="0"/>
          </a:p>
          <a:p>
            <a:pPr lvl="1"/>
            <a:r>
              <a:rPr lang="en-IN" sz="2000" b="1" i="1" dirty="0"/>
              <a:t>EAR(t) (</a:t>
            </a:r>
            <a:r>
              <a:rPr lang="en-IN" sz="2000" b="1" dirty="0"/>
              <a:t>EAR over time): </a:t>
            </a:r>
            <a:r>
              <a:rPr lang="en-US" sz="2000" dirty="0"/>
              <a:t>This sequence is a stochastic process. We analyze its pattern (e.g., frequency of blinks, duration of closures) to detect changes.</a:t>
            </a:r>
          </a:p>
          <a:p>
            <a:pPr lvl="1"/>
            <a:r>
              <a:rPr lang="en-IN" sz="2000" b="1" i="1" dirty="0"/>
              <a:t>State(t) </a:t>
            </a:r>
            <a:r>
              <a:rPr lang="en-IN" sz="2000" b="1" dirty="0"/>
              <a:t>(Drowsiness over time): </a:t>
            </a:r>
            <a:r>
              <a:rPr lang="en-IN" sz="2000" dirty="0"/>
              <a:t>The driver's transition from </a:t>
            </a:r>
            <a:r>
              <a:rPr lang="en-IN" sz="2000" i="1" dirty="0">
                <a:latin typeface="Berlin Sans FB Demi" panose="020E0802020502020306" pitchFamily="34" charset="0"/>
              </a:rPr>
              <a:t>Alert -&gt; Drowsy  </a:t>
            </a:r>
            <a:r>
              <a:rPr lang="en-IN" sz="2000" dirty="0"/>
              <a:t>is a process.</a:t>
            </a:r>
            <a:endParaRPr lang="en-IN" sz="2000" i="1" dirty="0">
              <a:latin typeface="Berlin Sans FB Demi" panose="020E0802020502020306" pitchFamily="34" charset="0"/>
            </a:endParaRPr>
          </a:p>
          <a:p>
            <a:r>
              <a:rPr lang="en-IN" sz="2000" b="1" dirty="0"/>
              <a:t>Why It Matters:</a:t>
            </a:r>
          </a:p>
          <a:p>
            <a:pPr lvl="1"/>
            <a:r>
              <a:rPr lang="en-US" sz="2000" dirty="0"/>
              <a:t>Our AI model (CNN) is designed to analyze these random, time-varying processes (the video feed) to </a:t>
            </a:r>
            <a:r>
              <a:rPr lang="en-US" sz="2000" b="1" dirty="0"/>
              <a:t>predict the probability</a:t>
            </a:r>
            <a:r>
              <a:rPr lang="en-US" sz="2000" dirty="0"/>
              <a:t> of the driver being in the "drowsy" state.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2102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0D92-AF20-E350-D513-290386A8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FD3C21-A83A-06BB-4E1F-9484CC622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17" y="1690688"/>
            <a:ext cx="3639835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5F863E-2062-3685-95A7-0EB25191F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165" y="1690688"/>
            <a:ext cx="3962400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320B7C-F1FC-F3FD-4F2A-253BA078D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178" y="1690688"/>
            <a:ext cx="37080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7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5CE12-63D2-8778-4E39-D50E920F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8741A6-DBF3-14EA-FC87-424333172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541" y="1825625"/>
            <a:ext cx="4467146" cy="4085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687062-375B-F159-E972-BA284C144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314" y="1825625"/>
            <a:ext cx="4811486" cy="408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62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C737-1B2F-B78F-759A-F3611668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Results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605AC-23E7-5E2D-1CBA-9D95CF583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Overall System Accuracy:</a:t>
            </a:r>
          </a:p>
          <a:p>
            <a:pPr lvl="1"/>
            <a:r>
              <a:rPr lang="en-US" sz="2000" dirty="0"/>
              <a:t>The model achieved </a:t>
            </a:r>
            <a:r>
              <a:rPr lang="en-US" sz="2000" b="1" dirty="0"/>
              <a:t>90-95% accuracy</a:t>
            </a:r>
            <a:r>
              <a:rPr lang="en-US" sz="2000" dirty="0"/>
              <a:t> in detecting drowsiness during test runs with clear driver visibility.</a:t>
            </a:r>
            <a:endParaRPr lang="en-IN" sz="2000" b="1" dirty="0"/>
          </a:p>
          <a:p>
            <a:r>
              <a:rPr lang="en-IN" sz="2000" b="1" dirty="0"/>
              <a:t>Real-Time Performance:</a:t>
            </a:r>
          </a:p>
          <a:p>
            <a:pPr lvl="1"/>
            <a:r>
              <a:rPr lang="en-US" sz="2000" dirty="0"/>
              <a:t>The system successfully processes the live video feed and triggers alerts in real-time (within seconds of a drowsiness event).</a:t>
            </a:r>
          </a:p>
          <a:p>
            <a:pPr lvl="1"/>
            <a:r>
              <a:rPr lang="en-US" sz="2000" dirty="0"/>
              <a:t>Performance is strong in daylight and moderate-light conditions.</a:t>
            </a:r>
            <a:endParaRPr lang="en-US" sz="2000" b="1" dirty="0"/>
          </a:p>
          <a:p>
            <a:r>
              <a:rPr lang="en-IN" sz="2000" b="1" dirty="0"/>
              <a:t>Performance Comparison: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F1617B-1259-4217-51B3-B1DAA9B3F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397658"/>
              </p:ext>
            </p:extLst>
          </p:nvPr>
        </p:nvGraphicFramePr>
        <p:xfrm>
          <a:off x="1306286" y="4604657"/>
          <a:ext cx="9742716" cy="1807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679">
                  <a:extLst>
                    <a:ext uri="{9D8B030D-6E8A-4147-A177-3AD203B41FA5}">
                      <a16:colId xmlns:a16="http://schemas.microsoft.com/office/drawing/2014/main" val="1975869602"/>
                    </a:ext>
                  </a:extLst>
                </a:gridCol>
                <a:gridCol w="2435679">
                  <a:extLst>
                    <a:ext uri="{9D8B030D-6E8A-4147-A177-3AD203B41FA5}">
                      <a16:colId xmlns:a16="http://schemas.microsoft.com/office/drawing/2014/main" val="3615516032"/>
                    </a:ext>
                  </a:extLst>
                </a:gridCol>
                <a:gridCol w="2435679">
                  <a:extLst>
                    <a:ext uri="{9D8B030D-6E8A-4147-A177-3AD203B41FA5}">
                      <a16:colId xmlns:a16="http://schemas.microsoft.com/office/drawing/2014/main" val="3353566786"/>
                    </a:ext>
                  </a:extLst>
                </a:gridCol>
                <a:gridCol w="2435679">
                  <a:extLst>
                    <a:ext uri="{9D8B030D-6E8A-4147-A177-3AD203B41FA5}">
                      <a16:colId xmlns:a16="http://schemas.microsoft.com/office/drawing/2014/main" val="3374067623"/>
                    </a:ext>
                  </a:extLst>
                </a:gridCol>
              </a:tblGrid>
              <a:tr h="451758">
                <a:tc>
                  <a:txBody>
                    <a:bodyPr/>
                    <a:lstStyle/>
                    <a:p>
                      <a:r>
                        <a:rPr lang="en-IN" dirty="0"/>
                        <a:t>Model/Method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Processing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Alert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7591"/>
                  </a:ext>
                </a:extLst>
              </a:tr>
              <a:tr h="451758">
                <a:tc>
                  <a:txBody>
                    <a:bodyPr/>
                    <a:lstStyle/>
                    <a:p>
                      <a:r>
                        <a:rPr lang="en-IN" dirty="0"/>
                        <a:t>Basic Eye Blink (EAR)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84425"/>
                  </a:ext>
                </a:extLst>
              </a:tr>
              <a:tr h="451758">
                <a:tc>
                  <a:txBody>
                    <a:bodyPr/>
                    <a:lstStyle/>
                    <a:p>
                      <a:r>
                        <a:rPr lang="en-IN" dirty="0"/>
                        <a:t>CNN (Baseline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557465"/>
                  </a:ext>
                </a:extLst>
              </a:tr>
              <a:tr h="451758">
                <a:tc>
                  <a:txBody>
                    <a:bodyPr/>
                    <a:lstStyle/>
                    <a:p>
                      <a:r>
                        <a:rPr lang="en-IN" dirty="0"/>
                        <a:t>Our Proposed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81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06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9A8C-C6E1-6576-5512-B95BEB6F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572F-71E4-131D-F51A-BB270E62D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4757057"/>
          </a:xfrm>
        </p:spPr>
        <p:txBody>
          <a:bodyPr>
            <a:normAutofit/>
          </a:bodyPr>
          <a:lstStyle/>
          <a:p>
            <a:r>
              <a:rPr lang="en-IN" sz="2000" b="1" dirty="0"/>
              <a:t>  1. Vehicle Integration:</a:t>
            </a:r>
          </a:p>
          <a:p>
            <a:pPr lvl="1"/>
            <a:r>
              <a:rPr lang="en-US" sz="2000" dirty="0"/>
              <a:t>Embed the system directly into ADAS (Advanced Driver Assistance Systems).</a:t>
            </a:r>
          </a:p>
          <a:p>
            <a:pPr lvl="1"/>
            <a:r>
              <a:rPr lang="en-US" sz="2000" dirty="0"/>
              <a:t>Link alerts to in-car systems like </a:t>
            </a:r>
            <a:r>
              <a:rPr lang="en-US" sz="2000" b="1" dirty="0"/>
              <a:t>seat vibration</a:t>
            </a:r>
            <a:r>
              <a:rPr lang="en-US" sz="2000" dirty="0"/>
              <a:t> or </a:t>
            </a:r>
            <a:r>
              <a:rPr lang="en-US" sz="2000" b="1" dirty="0"/>
              <a:t>controlled deceleration</a:t>
            </a:r>
            <a:r>
              <a:rPr lang="en-US" sz="2000" dirty="0"/>
              <a:t>.</a:t>
            </a:r>
            <a:endParaRPr lang="en-IN" sz="2000" b="1" dirty="0"/>
          </a:p>
          <a:p>
            <a:r>
              <a:rPr lang="en-IN" sz="2000" b="1" dirty="0"/>
              <a:t>  2. AI &amp; Sensor Fusion:</a:t>
            </a:r>
          </a:p>
          <a:p>
            <a:pPr lvl="1"/>
            <a:r>
              <a:rPr lang="en-US" sz="2000" dirty="0"/>
              <a:t>Combine camera data with other inputs (e.g., steering wheel patterns, heart rate) for higher accuracy.</a:t>
            </a:r>
            <a:endParaRPr lang="en-IN" sz="2000" b="1" dirty="0"/>
          </a:p>
          <a:p>
            <a:r>
              <a:rPr lang="en-IN" sz="2000" b="1" dirty="0"/>
              <a:t>  3. Cloud &amp; IoT Connectivity:</a:t>
            </a:r>
          </a:p>
          <a:p>
            <a:pPr lvl="1"/>
            <a:r>
              <a:rPr lang="en-US" sz="2000" dirty="0"/>
              <a:t>Send real-time data to fleet management systems for monitoring driver behavior.</a:t>
            </a:r>
            <a:endParaRPr lang="en-IN" sz="2000" b="1" dirty="0"/>
          </a:p>
          <a:p>
            <a:r>
              <a:rPr lang="en-IN" sz="2000" b="1" dirty="0"/>
              <a:t>  4. Personalization:</a:t>
            </a:r>
          </a:p>
          <a:p>
            <a:pPr lvl="1"/>
            <a:r>
              <a:rPr lang="en-US" sz="2000" dirty="0"/>
              <a:t>Develop adaptive models that learn a </a:t>
            </a:r>
            <a:r>
              <a:rPr lang="en-US" sz="2000" i="1" dirty="0"/>
              <a:t>specific driver's</a:t>
            </a:r>
            <a:r>
              <a:rPr lang="en-US" sz="2000" dirty="0"/>
              <a:t> unique fatigue signs over time.</a:t>
            </a:r>
            <a:endParaRPr lang="en-IN" sz="2000" b="1" dirty="0"/>
          </a:p>
          <a:p>
            <a:r>
              <a:rPr lang="en-IN" sz="2000" b="1" dirty="0"/>
              <a:t>  5. Cross-Domain Applications:</a:t>
            </a:r>
          </a:p>
          <a:p>
            <a:pPr lvl="1"/>
            <a:r>
              <a:rPr lang="en-US" sz="2000" dirty="0"/>
              <a:t>Adapt the technology for industrial safety (e.g., heavy machinery operators, air traffic controllers).</a:t>
            </a:r>
            <a:endParaRPr lang="en-IN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574005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71BB-9A93-62AF-124E-D797027D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39487"/>
            <a:ext cx="10515600" cy="990600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4400" b="1" dirty="0"/>
              <a:t>Conclusion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AA943-D162-0040-003B-AEE237983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36915"/>
            <a:ext cx="4526869" cy="496388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Achievement:</a:t>
            </a:r>
            <a:r>
              <a:rPr lang="en-US" sz="2000" dirty="0"/>
              <a:t> We have successfully designed, built, and tested an AI-based system for real-time driver drowsiness detection.</a:t>
            </a:r>
            <a:r>
              <a:rPr lang="en-US" sz="2000" b="1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Core Technology:</a:t>
            </a:r>
            <a:r>
              <a:rPr lang="en-US" sz="2000" dirty="0"/>
              <a:t> The system uses a Convolutional Neural Network (CNN) trained on the UTA-</a:t>
            </a:r>
            <a:r>
              <a:rPr lang="en-US" sz="2000" dirty="0" err="1"/>
              <a:t>RLDD</a:t>
            </a:r>
            <a:r>
              <a:rPr lang="en-US" sz="2000" dirty="0"/>
              <a:t> dataset to analyze facial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Result:</a:t>
            </a:r>
            <a:r>
              <a:rPr lang="en-US" sz="2000" dirty="0"/>
              <a:t> Our model achieves high accuracy (90-95%) and operates with the low latency required for a real-world safety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Impact:</a:t>
            </a:r>
            <a:r>
              <a:rPr lang="en-US" sz="2000" dirty="0"/>
              <a:t> This project provides a strong and effective foundation for a practical, life-saving device to enhance road safety.</a:t>
            </a:r>
          </a:p>
        </p:txBody>
      </p:sp>
      <p:pic>
        <p:nvPicPr>
          <p:cNvPr id="8196" name="Picture 4" descr="Driver Drowsiness Detection System ...">
            <a:extLst>
              <a:ext uri="{FF2B5EF4-FFF2-40B4-BE49-F238E27FC236}">
                <a16:creationId xmlns:a16="http://schemas.microsoft.com/office/drawing/2014/main" id="{29103083-A746-5B66-D605-E6A714582D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925" y="1796143"/>
            <a:ext cx="4635046" cy="378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723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7B1E-E87B-5F0D-94B7-64D1446AE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76462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69720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1325</Words>
  <Application>Microsoft Office PowerPoint</Application>
  <PresentationFormat>Widescreen</PresentationFormat>
  <Paragraphs>134</Paragraphs>
  <Slides>16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Berlin Sans FB Demi</vt:lpstr>
      <vt:lpstr>Calibri</vt:lpstr>
      <vt:lpstr>Calibri Light</vt:lpstr>
      <vt:lpstr>Wingdings</vt:lpstr>
      <vt:lpstr>Office Theme</vt:lpstr>
      <vt:lpstr>AI &amp; ML(24AD2001) REVIEW 4: AI-Based Drowsiness Detection For Drivers CC: Dr. Sudharsana  </vt:lpstr>
      <vt:lpstr>AGENDA</vt:lpstr>
      <vt:lpstr>Introduction-The Problem</vt:lpstr>
      <vt:lpstr>A System Overview</vt:lpstr>
      <vt:lpstr>Literature Survey-Key Methodologies</vt:lpstr>
      <vt:lpstr>Literature Survey-Challenges &amp; Gaps</vt:lpstr>
      <vt:lpstr>Dataset Selection</vt:lpstr>
      <vt:lpstr>Model Selection</vt:lpstr>
      <vt:lpstr>Conceptual Link: Random Variables &amp; Stochastic Processes</vt:lpstr>
      <vt:lpstr>PowerPoint Presentation</vt:lpstr>
      <vt:lpstr>Code</vt:lpstr>
      <vt:lpstr>Output</vt:lpstr>
      <vt:lpstr>Results &amp; Evaluation</vt:lpstr>
      <vt:lpstr>Future Scope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prasad avr avr</dc:creator>
  <cp:lastModifiedBy>satya prasad avr avr</cp:lastModifiedBy>
  <cp:revision>1</cp:revision>
  <dcterms:created xsi:type="dcterms:W3CDTF">2025-11-02T20:19:45Z</dcterms:created>
  <dcterms:modified xsi:type="dcterms:W3CDTF">2025-11-19T15:02:35Z</dcterms:modified>
</cp:coreProperties>
</file>